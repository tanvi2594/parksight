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line: 'Illegal parking is one of the most fixable causes of urban congestion — yet enforcement today is blind and reactive. ParkSight turns the traffic police's own 300,000 violation records into a live, validated, deployable plan that says exactly where, when, and how to enforce.' Stress: built on the partners' real data and MapmyIndia maps — deployable, not a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sets up the operational pain and our framing: turn logs into a decision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cards left-to-right. Land the goal line: we're not just visualising data — we're producing an ACTION plan a DCP can deploy tomorrow. These four gaps map to our five-stage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CLOSED loop — most teams stop at 'detect/visualise'. We forecast, optimise deployment, validate against independent data, and re-measure monthly. That last step is exactly the 'post-event learning system' the problem statement asks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One-liner: 'It's not a notebook — it's an engineered, reproducible system.' Mention leakage-free OOF encoding and unit tests if a technical judge asks. The app runs from pre-computed artifacts so the demo never needs the 109 MB raw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2: the data we used and how we turn it into a defensible impact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'real partner data, not simulated'. The second dataset is independent — we never train on it, we only validate against it, which is what makes our validation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CIS is the heart of the project: it turns 'a violation' into 'traffic impact'. Severity weights (main-road parking = 1.0, footpath = 0.4, document offences ≈ 0). Be honest about the controlled check — it shows intellectual rigour and pre-empts the 'isn't this just counting?'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map. The model independently rediscovers Cottonpet / City Market as #1 hotspots — places any Bengaluru traffic officer instantly recognises. That face-validity builds trust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is for the technical judges: the models, the numbers, evaluated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'why an ensemble?' — HistGB + LightGBM decorrelate errors. Crucially, we report the TRUE future hold-out, not just CV, AND the persistence baseline. Owning that the forecast is partly persistence is what a rigorous team does — and the confidence bands are a real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non-tautological intelligence: ranking by score stacks patrols on adjacent hotspots that overlap. Max-coverage spreads them to cover ~13 percentage points MORE unique impact with the same budget. That's a real OR contribution, not just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COVERAGE-GAP — it's the killer, non-obvious insight: 'here are severe chokepoints your current patrols are MISSING.' That's intelligence beyond 'patrol where violations already are'. Repeat-offender and emerging give additional levers.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differentiator: we validate one dataset against a completely independent one. Worst-20% parking areas hold 63% of all independently-reported congestion — 3.15× random. Almost no other team will cross-validate datasets. Be explicit it's associational, not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show the product, the workflow, the impact, and how it deploys.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every card. Say: 'Nine views, one workflow — but three steal the show', then jump to the next slide /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doing a live demo, THIS is the moment: type a question into Ask ParkSight, flip the 3D city, drag the deploy slider. 60 seconds of interaction beats five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it as a story of a DCP's shift — morning brief → deploy → act this hour → learn next month. Makes the abstract analytics concrete and operational.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memorable line: 'Enforce 7% of the city, fix 80% of the problem.' Frame the ₹ figure as an illustrative range, not a precise claim — judges respect the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closing argument before logistics. Each row is a reason to rank us above a pretty-dashboard entry. The 'Trust' and 'Partners' rows are the strongest.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the 'can this actually be used / scaled?' question. No new hardware — it consumes the data the police already collect. Multi-city is a config change, not a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we USED the partner infrastructure (MapmyIndia + BTP data) — a scoring signal — and that routing/maps gracefully fall back to OSS if keys are absent.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this slide. In a government room, the team that states its own limitations earns more trust than the team that over-claims. It signals maturity and makes every other number believable.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one-liner and invite the live demo. Thank the partners (MapmyIndia + BTP). Have the public Streamlit link ready to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907792"/>
            <a:ext cx="31089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5600" b="1">
                <a:solidFill>
                  <a:srgbClr val="FFFFFF"/>
                </a:solidFill>
                <a:latin typeface="Inter"/>
              </a:rPr>
              <a:t>ParkSight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0">
                <a:solidFill>
                  <a:srgbClr val="9DC2FF"/>
                </a:solidFill>
                <a:latin typeface="Inter"/>
              </a:rPr>
              <a:t>Parking-Induced Congestion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C7D4EA"/>
                </a:solidFill>
                <a:latin typeface="Inter"/>
              </a:rPr>
              <a:t>An AI decision-support system that detects illegal-parking hotspots, quantifies their impact on traffic flow, forecasts risk, and produces an optimised, road-routed enforcement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8AA0C0"/>
                </a:solidFill>
                <a:latin typeface="Inter"/>
              </a:rPr>
              <a:t>Gridlock 2.0  ·  Theme 1  ·  Built on Bengaluru Traffic Police (ASTraM) data + MapmyIndia (Mappls) maps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600" b="1">
                <a:solidFill>
                  <a:srgbClr val="243A60"/>
                </a:solidFill>
                <a:latin typeface="Inter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3611880"/>
            <a:ext cx="2011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9DC2FF"/>
                </a:solidFill>
                <a:latin typeface="Inter"/>
              </a:rPr>
              <a:t>PROBLEM &amp;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160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Enforcement is blind, reactive, un-prioritised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Four gaps in parking enforcement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2646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7A90"/>
                </a:solidFill>
                <a:latin typeface="Inter"/>
              </a:rPr>
              <a:t>On-street &amp; spillover illegal parking near markets, metros and events chokes carriageways.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11680"/>
            <a:ext cx="2606040" cy="2468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3271" y="2212848"/>
            <a:ext cx="45720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395728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Inter"/>
              </a:rPr>
              <a:t>Reactive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6B7A90"/>
                </a:solidFill>
                <a:latin typeface="Inter"/>
              </a:rPr>
              <a:t>Patrol-based; officers respond to complaints, not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2011680"/>
            <a:ext cx="2606040" cy="2468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76472" y="2212848"/>
            <a:ext cx="457200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2395728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Inter"/>
              </a:rPr>
              <a:t>Invisible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6B7A90"/>
                </a:solidFill>
                <a:latin typeface="Inter"/>
              </a:rPr>
              <a:t>No heatmap of where violations actually hurt traffic 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011680"/>
            <a:ext cx="2606040" cy="2468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19672" y="2212848"/>
            <a:ext cx="45720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395728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Inter"/>
              </a:rPr>
              <a:t>Un-prioritised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6B7A90"/>
                </a:solidFill>
                <a:latin typeface="Inter"/>
              </a:rPr>
              <a:t>No objective way to allocate limited staff city-wide.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011680"/>
            <a:ext cx="2606040" cy="2468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62872" y="2212848"/>
            <a:ext cx="45720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2395728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Inter"/>
              </a:rPr>
              <a:t>Un-measured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6B7A90"/>
                </a:solidFill>
                <a:latin typeface="Inter"/>
              </a:rPr>
              <a:t>No feedback loop to learn whether an action worked.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463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937"/>
                </a:solidFill>
                <a:latin typeface="Inter"/>
              </a:rPr>
              <a:t>Goal: convert raw violation logs into a ranked, validated, deployable enforcement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A closed, end-to-end decision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2</a:t>
            </a:r>
          </a:p>
        </p:txBody>
      </p:sp>
      <p:sp>
        <p:nvSpPr>
          <p:cNvPr id="10" name="Chevron 9"/>
          <p:cNvSpPr/>
          <p:nvPr/>
        </p:nvSpPr>
        <p:spPr>
          <a:xfrm>
            <a:off x="868680" y="2468880"/>
            <a:ext cx="2331720" cy="128016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Detect
hotspots</a:t>
            </a:r>
          </a:p>
        </p:txBody>
      </p:sp>
      <p:sp>
        <p:nvSpPr>
          <p:cNvPr id="11" name="Chevron 10"/>
          <p:cNvSpPr/>
          <p:nvPr/>
        </p:nvSpPr>
        <p:spPr>
          <a:xfrm>
            <a:off x="2971800" y="2468880"/>
            <a:ext cx="2331720" cy="1280160"/>
          </a:xfrm>
          <a:prstGeom prst="chevron">
            <a:avLst/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Quantify
impact</a:t>
            </a:r>
          </a:p>
        </p:txBody>
      </p:sp>
      <p:sp>
        <p:nvSpPr>
          <p:cNvPr id="12" name="Chevron 11"/>
          <p:cNvSpPr/>
          <p:nvPr/>
        </p:nvSpPr>
        <p:spPr>
          <a:xfrm>
            <a:off x="5074920" y="2468880"/>
            <a:ext cx="2331720" cy="128016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Forecast
risk</a:t>
            </a:r>
          </a:p>
        </p:txBody>
      </p:sp>
      <p:sp>
        <p:nvSpPr>
          <p:cNvPr id="13" name="Chevron 12"/>
          <p:cNvSpPr/>
          <p:nvPr/>
        </p:nvSpPr>
        <p:spPr>
          <a:xfrm>
            <a:off x="7178040" y="2468880"/>
            <a:ext cx="2331720" cy="1280160"/>
          </a:xfrm>
          <a:prstGeom prst="chevron">
            <a:avLst/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Optimise
&amp; deploy</a:t>
            </a:r>
          </a:p>
        </p:txBody>
      </p:sp>
      <p:sp>
        <p:nvSpPr>
          <p:cNvPr id="14" name="Chevron 13"/>
          <p:cNvSpPr/>
          <p:nvPr/>
        </p:nvSpPr>
        <p:spPr>
          <a:xfrm>
            <a:off x="9281159" y="2468880"/>
            <a:ext cx="2331720" cy="128016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Validate
&amp; 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1F2937"/>
                </a:solidFill>
                <a:latin typeface="Inter"/>
              </a:rPr>
              <a:t>Each stage is a working module in a live Streamlit command center (9 interactive views).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F2937"/>
                </a:solidFill>
                <a:latin typeface="Inter"/>
              </a:rPr>
              <a:t>The loop re-runs monthly, so any enforcement action can be measured — the post-event learning the brief asks for.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Reproducible pipeline → artifacts → live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45920"/>
            <a:ext cx="10469880" cy="3246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288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raw violations CSV (298K) ─► pipeline.py    clean · parse · severity · H3 index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                         ├─► hotspots.py   H3 cells + Congestion-Impact Score ─► DBSCAN zones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                         ├─► forecast.py   HistGB + LightGBM ensemble · hold-out · intervals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                         ├─► analytics.py  offenders · emerging · coverage-gap · cost · OR · routing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                         ├─► validate.py   independent-event validation (+ controlled check)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                         └─► poi.py        OpenStreetMap context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                                   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      build_all.py ───────────────►  outputs/  (csv · geojson · charts · metrics.json)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                                   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                              app.py (Streamlit) · routing.py (Mappls/OSRM) · mappls.py (OAuth)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Inter"/>
              </a:rPr>
              <a:t>Boots from committed artifacts (no raw data needed) · 5-fold out-of-fold encoding prevents leakage · config-driven for any city · unit-tested (pytest).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600" b="1">
                <a:solidFill>
                  <a:srgbClr val="243A60"/>
                </a:solidFill>
                <a:latin typeface="Inter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3611880"/>
            <a:ext cx="2011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9DC2FF"/>
                </a:solidFill>
                <a:latin typeface="Inter"/>
              </a:rPr>
              <a:t>DATA &amp;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160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Real partner data, a transparent impact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Real partner datasets — no synthetic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737360"/>
            <a:ext cx="3383280" cy="1417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7" y="1847088"/>
            <a:ext cx="3163824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93391"/>
            <a:ext cx="3090672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2563EB"/>
                </a:solidFill>
                <a:latin typeface="Inter"/>
              </a:rPr>
              <a:t>298,445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7A90"/>
                </a:solidFill>
                <a:latin typeface="Inter"/>
              </a:rPr>
              <a:t>police parking violations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44568" y="1847088"/>
            <a:ext cx="3163824" cy="731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1993391"/>
            <a:ext cx="3090672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059669"/>
                </a:solidFill>
                <a:latin typeface="Inter"/>
              </a:rPr>
              <a:t>151 days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7A90"/>
                </a:solidFill>
                <a:latin typeface="Inter"/>
              </a:rPr>
              <a:t>Nov 2023 – Apr 2024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737360"/>
            <a:ext cx="3291840" cy="1417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7" y="1847088"/>
            <a:ext cx="307238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1993391"/>
            <a:ext cx="2999232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7C3AED"/>
                </a:solidFill>
                <a:latin typeface="Inter"/>
              </a:rPr>
              <a:t>169 / 54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7A90"/>
                </a:solidFill>
                <a:latin typeface="Inter"/>
              </a:rPr>
              <a:t>junctions / stations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450" b="0">
                <a:solidFill>
                  <a:srgbClr val="1F2937"/>
                </a:solidFill>
                <a:latin typeface="Inter"/>
              </a:rPr>
              <a:t>Primary — Bengaluru Traffic Police / ASTraM: geo-tagged violations (location, vehicle no./type, 27 violation types, timestamps, officer &amp; device IDs — all anonymised). 97% parking-related.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F2937"/>
                </a:solidFill>
                <a:latin typeface="Inter"/>
              </a:rPr>
              <a:t>Independent — Astram event log: live congestion / accident / breakdown reports — used ONLY for validation.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F2937"/>
                </a:solidFill>
                <a:latin typeface="Inter"/>
              </a:rPr>
              <a:t>Geospatial — Uber H3 hex index (res 9, ≈150 m) · OpenStreetMap POIs · MapmyIndia maps &amp; routing.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Congestion-Impact Score (CIS)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91640"/>
            <a:ext cx="10469880" cy="822960"/>
          </a:xfrm>
          <a:prstGeom prst="roundRect">
            <a:avLst/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4708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CIS  =  parking-volume  ×  mean severity  ×  chronicity  ×  peak-hour overlap     (scaled 0–100)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68680" y="2743200"/>
          <a:ext cx="10469880" cy="1609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580644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Component</a:t>
                      </a:r>
                    </a:p>
                  </a:txBody>
                  <a:tcPr marL="91440" marT="27432" marB="27432" anchor="ctr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What it captures</a:t>
                      </a:r>
                    </a:p>
                  </a:txBody>
                  <a:tcPr marL="91440" marT="27432" marB="27432" anchor="ctr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Source</a:t>
                      </a:r>
                    </a:p>
                  </a:txBody>
                  <a:tcPr marL="91440" marT="27432" marB="27432" anchor="ctr">
                    <a:solidFill>
                      <a:srgbClr val="0F1D3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Inter"/>
                        </a:rPr>
                        <a:t>Volume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563EB"/>
                          </a:solidFill>
                          <a:latin typeface="Inter"/>
                        </a:rPr>
                        <a:t>How many violations occur in the cell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Inter"/>
                        </a:rPr>
                        <a:t>counts per H3 cell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Inter"/>
                        </a:rPr>
                        <a:t>Severity (0–1)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563EB"/>
                          </a:solidFill>
                          <a:latin typeface="Inter"/>
                        </a:rPr>
                        <a:t>How much the violation blocks traffic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Inter"/>
                        </a:rPr>
                        <a:t>expert weights, cross-checked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Inter"/>
                        </a:rPr>
                        <a:t>Chronicity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563EB"/>
                          </a:solidFill>
                          <a:latin typeface="Inter"/>
                        </a:rPr>
                        <a:t>Persistent vs one-off problem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Inter"/>
                        </a:rPr>
                        <a:t>share of active days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Inter"/>
                        </a:rPr>
                        <a:t>Peak overlap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563EB"/>
                          </a:solidFill>
                          <a:latin typeface="Inter"/>
                        </a:rPr>
                        <a:t>Concentration in rush hours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Inter"/>
                        </a:rPr>
                        <a:t>fraction in peak windows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68680" y="5074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Inter"/>
              </a:rPr>
              <a:t>Leakage-free: 5-fold out-of-fold encoding + shrinkage (k=5). Honest: a controlled check shows CIS tracks congestion mainly via DENSITY — severity is an enforcement-triage layer, not a congestion predictor.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Hotspots → enforcement zones (H3 + DBSCAN)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Spatial index: Uber H3 resolution 9 (≈150 m hexagons).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Aggregate each violation to its cell; compute CIS per cell.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Cluster adjacent high-impact cells into ZONES with DBSCAN (haversine, eps≈350 m, min_samples=2 → genuine clusters).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6B7A90"/>
                </a:solidFill>
                <a:latin typeface="Inter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2,534 hotspot cells → 78 enforcement zones.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~7% of cells hold 80% of total impact.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Top zones are real chokepoints — Cottonpet, City Market, Chickpet — found with zero manual labels.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91640"/>
            <a:ext cx="5394960" cy="4160520"/>
          </a:xfrm>
          <a:prstGeom prst="roundRect">
            <a:avLst/>
          </a:prstGeom>
          <a:solidFill>
            <a:srgbClr val="ECF1F8"/>
          </a:solidFill>
          <a:ln w="15875">
            <a:solidFill>
              <a:srgbClr val="B6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6B7A90"/>
                </a:solidFill>
                <a:latin typeface="Inter"/>
              </a:rPr>
              <a:t>🖼  Screenshot: Command Map — impact hexagons + zones (MapmyIndia)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600" b="1">
                <a:solidFill>
                  <a:srgbClr val="243A60"/>
                </a:solidFill>
                <a:latin typeface="Inter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3611880"/>
            <a:ext cx="2011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9DC2FF"/>
                </a:solidFill>
                <a:latin typeface="Inter"/>
              </a:rPr>
              <a:t>MODELS &amp;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160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Forecasting · optimisation ·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MODEL ·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Spatio-temporal risk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45920"/>
            <a:ext cx="5532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Inter"/>
              </a:rPr>
              <a:t>Target: expected violations per (cell × day-of-week × hour).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Inter"/>
              </a:rPr>
              <a:t>Model: ENSEMBLE — HistGradientBoosting + LightGBM (averaged), on log-intensity.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Inter"/>
              </a:rPr>
              <a:t>Features (17): lat/lon, hour, day, cyclic encodings, peak/weekend flags, cell base-rate, per-cell hour &amp; day profiles, 4-week recency + trend, H3 neighbour-ring density, region (res-7/6) rates, severity.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Inter"/>
              </a:rPr>
              <a:t>Uncertainty: quantile gradient boosting → 80% prediction interval per cell.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Inter"/>
              </a:rPr>
              <a:t>Validation: true TEMPORAL hold-out (train 16 wks → score 8 unseen wks).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29400" y="1691640"/>
          <a:ext cx="470916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612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Metric</a:t>
                      </a:r>
                    </a:p>
                  </a:txBody>
                  <a:tcPr marL="91440" marT="27432" marB="27432" anchor="ctr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Value</a:t>
                      </a:r>
                    </a:p>
                  </a:txBody>
                  <a:tcPr marL="91440" marT="27432" marB="27432" anchor="ctr">
                    <a:solidFill>
                      <a:srgbClr val="0F1D3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Inter"/>
                        </a:rPr>
                        <a:t>Explanatory R² (5-fold CV)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563EB"/>
                          </a:solidFill>
                          <a:latin typeface="Inter"/>
                        </a:rPr>
                        <a:t>0.8208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Inter"/>
                        </a:rPr>
                        <a:t>Future R² · where (spatial)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563EB"/>
                          </a:solidFill>
                          <a:latin typeface="Inter"/>
                        </a:rPr>
                        <a:t>0.8836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Inter"/>
                        </a:rPr>
                        <a:t>Future R² · where + hour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563EB"/>
                          </a:solidFill>
                          <a:latin typeface="Inter"/>
                        </a:rPr>
                        <a:t>0.7248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Inter"/>
                        </a:rPr>
                        <a:t>Naïve persistence (spatial)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563EB"/>
                          </a:solidFill>
                          <a:latin typeface="Inter"/>
                        </a:rPr>
                        <a:t>0.8552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Inter"/>
                        </a:rPr>
                        <a:t>80% interval coverage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563EB"/>
                          </a:solidFill>
                          <a:latin typeface="Inter"/>
                        </a:rPr>
                        <a:t>90%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629400" y="4526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6B7A90"/>
                </a:solidFill>
                <a:latin typeface="Inter"/>
              </a:rPr>
              <a:t>Honest: hotspots are highly persistent (naïve baseline already ~0.87 spatial). The model adds confidence bands + edge on change; the value is the operational system, not raw R².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MODEL ·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Constrained patrol placement (Operations Research)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Problem: place K patrols to cover the MOST congestion impact — not just rank by score.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Method: MAX-COVERAGE via submodular greedy (≈(1−1/e) optimality guarantee).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Each patrol covers its zone + zones within ≈1.2 km; impact counted once (no double-count).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6B7A90"/>
                </a:solidFill>
                <a:latin typeface="Inter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Covers materially MORE unique impact than naive top-N — same patrol budget — then sequenced into a road-following route via MapmyIndia.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Live 'Deploy &amp; Simulate' slider recomputes coverage, route and ROI in real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91640"/>
            <a:ext cx="5394960" cy="4160520"/>
          </a:xfrm>
          <a:prstGeom prst="roundRect">
            <a:avLst/>
          </a:prstGeom>
          <a:solidFill>
            <a:srgbClr val="ECF1F8"/>
          </a:solidFill>
          <a:ln w="15875">
            <a:solidFill>
              <a:srgbClr val="B6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6B7A90"/>
                </a:solidFill>
                <a:latin typeface="Inter"/>
              </a:rPr>
              <a:t>🖼  Screenshot: Priorities &amp; Deploy — optimised vs naive + route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ENFORCEMENT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Beyond ranking — the non-obvious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Coverage-gap: 13 severe hotspots current patrols UNDER-serve (high impact, low effort).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Repeat offenders: 34.2% of violations from repeat vehicles (worst caught 55×).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Emerging hotspots: 278 rising spots flagged for early action.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Post-enforcement tracker: monthly improving vs worsening zones (the learning loop).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Enforcement-bias correction: estimate true demand where patrols rarely go.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Ward-level unit allocation + congestion cost (₹, illustrative range).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91640"/>
            <a:ext cx="5394960" cy="4206240"/>
          </a:xfrm>
          <a:prstGeom prst="roundRect">
            <a:avLst/>
          </a:prstGeom>
          <a:solidFill>
            <a:srgbClr val="ECF1F8"/>
          </a:solidFill>
          <a:ln w="15875">
            <a:solidFill>
              <a:srgbClr val="B6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6B7A90"/>
                </a:solidFill>
                <a:latin typeface="Inter"/>
              </a:rPr>
              <a:t>🖼  Screenshot: Coverage-gap / Repeat Offenders / Trends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WHY TRUST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Validated against an INDEPENDENT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91640"/>
            <a:ext cx="329184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7" y="1801368"/>
            <a:ext cx="3072384" cy="731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47672"/>
            <a:ext cx="2999232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059669"/>
                </a:solidFill>
                <a:latin typeface="Inter"/>
              </a:rPr>
              <a:t>0.776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7A90"/>
                </a:solidFill>
                <a:latin typeface="Inter"/>
              </a:rPr>
              <a:t>corr. with congestion density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91640"/>
            <a:ext cx="329184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8" y="1801368"/>
            <a:ext cx="3072384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947672"/>
            <a:ext cx="2999232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2563EB"/>
                </a:solidFill>
                <a:latin typeface="Inter"/>
              </a:rPr>
              <a:t>63.1%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7A90"/>
                </a:solidFill>
                <a:latin typeface="Inter"/>
              </a:rPr>
              <a:t>congestion in worst-20% areas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691640"/>
            <a:ext cx="324612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27848" y="1801368"/>
            <a:ext cx="3026663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1947672"/>
            <a:ext cx="2953512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DC2626"/>
                </a:solidFill>
                <a:latin typeface="Inter"/>
              </a:rPr>
              <a:t>3.15×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7A90"/>
                </a:solidFill>
                <a:latin typeface="Inter"/>
              </a:rPr>
              <a:t>more than random chance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004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Inter"/>
              </a:rPr>
              <a:t>Cross-checked vs a separate congestion/accident event log.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Inter"/>
              </a:rPr>
              <a:t>Controlled (partial-correlation) check: the link is driven by hotspot density — reported honestly.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Inter"/>
              </a:rPr>
              <a:t>Quasi-precision: top-zone hit-rate vs independent events.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Inter"/>
              </a:rPr>
              <a:t>Associational evidence, not causal proof.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200400"/>
            <a:ext cx="5394960" cy="2651760"/>
          </a:xfrm>
          <a:prstGeom prst="roundRect">
            <a:avLst/>
          </a:prstGeom>
          <a:solidFill>
            <a:srgbClr val="ECF1F8"/>
          </a:solidFill>
          <a:ln w="15875">
            <a:solidFill>
              <a:srgbClr val="B6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6B7A90"/>
                </a:solidFill>
                <a:latin typeface="Inter"/>
              </a:rPr>
              <a:t>🖼  Screenshot: Validation tab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600" b="1">
                <a:solidFill>
                  <a:srgbClr val="243A60"/>
                </a:solidFill>
                <a:latin typeface="Inter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3611880"/>
            <a:ext cx="20116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9DC2FF"/>
                </a:solidFill>
                <a:latin typeface="Inter"/>
              </a:rPr>
              <a:t>PRODUCT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160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A live command center, deployable today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A live command center — 9 interactive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737360"/>
            <a:ext cx="2606040" cy="19202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4983" y="1883664"/>
            <a:ext cx="384048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039112"/>
            <a:ext cx="2331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Inter"/>
              </a:rPr>
              <a:t>Command Map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A90"/>
                </a:solidFill>
                <a:latin typeface="Inter"/>
              </a:rPr>
              <a:t>Impact hexagons · 3D city · MapmyIndia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737360"/>
            <a:ext cx="2606040" cy="19202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58184" y="1883664"/>
            <a:ext cx="384048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4" y="2039112"/>
            <a:ext cx="2331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Inter"/>
              </a:rPr>
              <a:t>Ask ParkSight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A90"/>
                </a:solidFill>
                <a:latin typeface="Inter"/>
              </a:rPr>
              <a:t>Natural-language queries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737360"/>
            <a:ext cx="2606040" cy="19202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01384" y="1883664"/>
            <a:ext cx="384048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2039112"/>
            <a:ext cx="2331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Inter"/>
              </a:rPr>
              <a:t>Live Ops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A90"/>
                </a:solidFill>
                <a:latin typeface="Inter"/>
              </a:rPr>
              <a:t>Highest-risk zones for THIS hour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737360"/>
            <a:ext cx="2606040" cy="19202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44584" y="1883664"/>
            <a:ext cx="384048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2039112"/>
            <a:ext cx="2331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Inter"/>
              </a:rPr>
              <a:t>Priorities &amp; Deploy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A90"/>
                </a:solidFill>
                <a:latin typeface="Inter"/>
              </a:rPr>
              <a:t>Optimise · route · ROI · export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886200"/>
            <a:ext cx="2606040" cy="19202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3" y="4032504"/>
            <a:ext cx="384048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3" y="4187952"/>
            <a:ext cx="2331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Inter"/>
              </a:rPr>
              <a:t>Forecast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A90"/>
                </a:solidFill>
                <a:latin typeface="Inter"/>
              </a:rPr>
              <a:t>Risk surface + confidence bands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3886200"/>
            <a:ext cx="2606040" cy="19202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58184" y="4032504"/>
            <a:ext cx="384048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58184" y="4187952"/>
            <a:ext cx="2331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Inter"/>
              </a:rPr>
              <a:t>Repeat Offenders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A90"/>
                </a:solidFill>
                <a:latin typeface="Inter"/>
              </a:rPr>
              <a:t>Offender Pareto · deterrence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3886200"/>
            <a:ext cx="2606040" cy="19202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01384" y="4032504"/>
            <a:ext cx="384048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4187952"/>
            <a:ext cx="2331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Inter"/>
              </a:rPr>
              <a:t>Trends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A90"/>
                </a:solidFill>
                <a:latin typeface="Inter"/>
              </a:rPr>
              <a:t>Improving/worsening · time-lapse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3886200"/>
            <a:ext cx="2606040" cy="19202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44584" y="4032504"/>
            <a:ext cx="384048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44584" y="4187952"/>
            <a:ext cx="2331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Inter"/>
              </a:rPr>
              <a:t>Coverage &amp; Context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A90"/>
                </a:solidFill>
                <a:latin typeface="Inter"/>
              </a:rPr>
              <a:t>Under-enforced · bias · POI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A90"/>
                </a:solidFill>
                <a:latin typeface="Inter"/>
              </a:rPr>
              <a:t>Plus a one-click PDF Commander's Briefing and the independent Validation view.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STANDOUT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What judges remember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91640"/>
            <a:ext cx="5212080" cy="2011680"/>
          </a:xfrm>
          <a:prstGeom prst="roundRect">
            <a:avLst/>
          </a:prstGeom>
          <a:solidFill>
            <a:srgbClr val="ECF1F8"/>
          </a:solidFill>
          <a:ln w="15875">
            <a:solidFill>
              <a:srgbClr val="B6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6B7A90"/>
                </a:solidFill>
                <a:latin typeface="Inter"/>
              </a:rPr>
              <a:t>🖼  Screenshot: Ask ParkSight (natural-language)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91640"/>
            <a:ext cx="5212080" cy="2011680"/>
          </a:xfrm>
          <a:prstGeom prst="roundRect">
            <a:avLst/>
          </a:prstGeom>
          <a:solidFill>
            <a:srgbClr val="ECF1F8"/>
          </a:solidFill>
          <a:ln w="15875">
            <a:solidFill>
              <a:srgbClr val="B6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6B7A90"/>
                </a:solidFill>
                <a:latin typeface="Inter"/>
              </a:rPr>
              <a:t>🖼  Screenshot: 3D congestion 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840480"/>
            <a:ext cx="5212080" cy="2011680"/>
          </a:xfrm>
          <a:prstGeom prst="roundRect">
            <a:avLst/>
          </a:prstGeom>
          <a:solidFill>
            <a:srgbClr val="ECF1F8"/>
          </a:solidFill>
          <a:ln w="15875">
            <a:solidFill>
              <a:srgbClr val="B6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6B7A90"/>
                </a:solidFill>
                <a:latin typeface="Inter"/>
              </a:rPr>
              <a:t>🖼  Screenshot: Live Ops — deploy this hour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88620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A90"/>
                </a:solidFill>
                <a:latin typeface="Inter"/>
              </a:rPr>
              <a:t>› Ask-in-English deployment queries (offline)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A90"/>
                </a:solidFill>
                <a:latin typeface="Inter"/>
              </a:rPr>
              <a:t>› 3D extruded impact map (pydeck)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A90"/>
                </a:solidFill>
                <a:latin typeface="Inter"/>
              </a:rPr>
              <a:t>› Live-Ops 'right now' scheduling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A90"/>
                </a:solidFill>
                <a:latin typeface="Inter"/>
              </a:rPr>
              <a:t>› MapmyIndia / Streets / Satellite basemaps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A90"/>
                </a:solidFill>
                <a:latin typeface="Inter"/>
              </a:rPr>
              <a:t>› One-click PDF Commander's Briefing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From data to deployment, in one shift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13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1783080"/>
            <a:ext cx="640080" cy="8412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842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819656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937"/>
                </a:solidFill>
                <a:latin typeface="Inter"/>
              </a:rPr>
              <a:t>Morning brief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6B7A90"/>
                </a:solidFill>
                <a:latin typeface="Inter"/>
              </a:rPr>
              <a:t>DCP opens the dashboard / PDF briefing: today's top zones + ward allocation.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862072"/>
            <a:ext cx="640080" cy="841248"/>
          </a:xfrm>
          <a:prstGeom prst="ellipse">
            <a:avLst/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898648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937"/>
                </a:solidFill>
                <a:latin typeface="Inter"/>
              </a:rPr>
              <a:t>Deploy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6B7A90"/>
                </a:solidFill>
                <a:latin typeface="Inter"/>
              </a:rPr>
              <a:t>Sets patrol count → optimiser picks zones, MapmyIndia routes them.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941063"/>
            <a:ext cx="640080" cy="8412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42231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977639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937"/>
                </a:solidFill>
                <a:latin typeface="Inter"/>
              </a:rPr>
              <a:t>Act now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6B7A90"/>
                </a:solidFill>
                <a:latin typeface="Inter"/>
              </a:rPr>
              <a:t>Live-Ops shows the highest-risk zones for THIS hour; officers reposition.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020056"/>
            <a:ext cx="640080" cy="841248"/>
          </a:xfrm>
          <a:prstGeom prst="ellipse">
            <a:avLst/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2212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056632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937"/>
                </a:solidFill>
                <a:latin typeface="Inter"/>
              </a:rPr>
              <a:t>Learn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6B7A90"/>
                </a:solidFill>
                <a:latin typeface="Inter"/>
              </a:rPr>
              <a:t>Next month, the tracker shows which zones improved — close the loop.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IMPACT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Focus beats blanket patrolling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737360"/>
            <a:ext cx="3383280" cy="1417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7" y="1847088"/>
            <a:ext cx="3163824" cy="731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93391"/>
            <a:ext cx="3090672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059669"/>
                </a:solidFill>
                <a:latin typeface="Inter"/>
              </a:rPr>
              <a:t>~7% → 80%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7A90"/>
                </a:solidFill>
                <a:latin typeface="Inter"/>
              </a:rPr>
              <a:t>cells cover 80% of impact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44568" y="1847088"/>
            <a:ext cx="3163824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1993391"/>
            <a:ext cx="3090672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DC2626"/>
                </a:solidFill>
                <a:latin typeface="Inter"/>
              </a:rPr>
              <a:t>₹0.69–3.23 cr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7A90"/>
                </a:solidFill>
                <a:latin typeface="Inter"/>
              </a:rPr>
              <a:t>congestion cost / yr (est.)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737360"/>
            <a:ext cx="3291840" cy="1417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7" y="1847088"/>
            <a:ext cx="307238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1993391"/>
            <a:ext cx="2999232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7C3AED"/>
                </a:solidFill>
                <a:latin typeface="Inter"/>
              </a:rPr>
              <a:t>+~13 pp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7A90"/>
                </a:solidFill>
                <a:latin typeface="Inter"/>
              </a:rPr>
              <a:t>optimiser vs naive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747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937"/>
                </a:solidFill>
                <a:latin typeface="Inter"/>
              </a:rPr>
              <a:t>Enforce ~7% of the city → address 80% of parking-induced congestion impact.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937"/>
                </a:solidFill>
                <a:latin typeface="Inter"/>
              </a:rPr>
              <a:t>Max-coverage optimisation covers more impact per patrol than naive ranking.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937"/>
                </a:solidFill>
                <a:latin typeface="Inter"/>
              </a:rPr>
              <a:t>A what-if ROI estimates violations &amp; rupees averted (adjustable effectiveness slider; illustrative).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937"/>
                </a:solidFill>
                <a:latin typeface="Inter"/>
              </a:rPr>
              <a:t>Deployable today — on the police's own data and MapmyIndia's own maps.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WHY PARKSIGHT STANDS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Against a typical hackathon entry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68680" y="1737360"/>
          <a:ext cx="1046988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4023360"/>
                <a:gridCol w="4343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Inter"/>
                        </a:rPr>
                        <a:t>Dimension</a:t>
                      </a:r>
                    </a:p>
                  </a:txBody>
                  <a:tcPr marL="91440" marT="27432" marB="27432" anchor="ctr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Inter"/>
                        </a:rPr>
                        <a:t>Typical entry</a:t>
                      </a:r>
                    </a:p>
                  </a:txBody>
                  <a:tcPr marL="91440" marT="27432" marB="27432" anchor="ctr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Inter"/>
                        </a:rPr>
                        <a:t>ParkSight</a:t>
                      </a:r>
                    </a:p>
                  </a:txBody>
                  <a:tcPr marL="91440" marT="27432" marB="27432" anchor="ctr">
                    <a:solidFill>
                      <a:srgbClr val="0F1D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937"/>
                          </a:solidFill>
                          <a:latin typeface="Inter"/>
                        </a:rPr>
                        <a:t>Output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563EB"/>
                          </a:solidFill>
                          <a:latin typeface="Inter"/>
                        </a:rPr>
                        <a:t>A dashboard / heatmap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937"/>
                          </a:solidFill>
                          <a:latin typeface="Inter"/>
                        </a:rPr>
                        <a:t>A deployable patrol PLAN (zones, route, units)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937"/>
                          </a:solidFill>
                          <a:latin typeface="Inter"/>
                        </a:rPr>
                        <a:t>Impact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563EB"/>
                          </a:solidFill>
                          <a:latin typeface="Inter"/>
                        </a:rPr>
                        <a:t>Counts violations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937"/>
                          </a:solidFill>
                          <a:latin typeface="Inter"/>
                        </a:rPr>
                        <a:t>Quantifies traffic impact (severity-weighted)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937"/>
                          </a:solidFill>
                          <a:latin typeface="Inter"/>
                        </a:rPr>
                        <a:t>Trust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563EB"/>
                          </a:solidFill>
                          <a:latin typeface="Inter"/>
                        </a:rPr>
                        <a:t>Self-reported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937"/>
                          </a:solidFill>
                          <a:latin typeface="Inter"/>
                        </a:rPr>
                        <a:t>Validated vs an INDEPENDENT congestion dataset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937"/>
                          </a:solidFill>
                          <a:latin typeface="Inter"/>
                        </a:rPr>
                        <a:t>Method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563EB"/>
                          </a:solidFill>
                          <a:latin typeface="Inter"/>
                        </a:rPr>
                        <a:t>One model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937"/>
                          </a:solidFill>
                          <a:latin typeface="Inter"/>
                        </a:rPr>
                        <a:t>Forecast + OR optimisation + uncertainty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937"/>
                          </a:solidFill>
                          <a:latin typeface="Inter"/>
                        </a:rPr>
                        <a:t>Partners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563EB"/>
                          </a:solidFill>
                          <a:latin typeface="Inter"/>
                        </a:rPr>
                        <a:t>Generic OSS maps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937"/>
                          </a:solidFill>
                          <a:latin typeface="Inter"/>
                        </a:rPr>
                        <a:t>MapmyIndia maps + routing, BTP data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937"/>
                          </a:solidFill>
                          <a:latin typeface="Inter"/>
                        </a:rPr>
                        <a:t>Rigour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563EB"/>
                          </a:solidFill>
                          <a:latin typeface="Inter"/>
                        </a:rPr>
                        <a:t>Best-case numbers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937"/>
                          </a:solidFill>
                          <a:latin typeface="Inter"/>
                        </a:rPr>
                        <a:t>Temporal hold-out + honest limitations</a:t>
                      </a:r>
                    </a:p>
                  </a:txBody>
                  <a:tcPr marL="91440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DEPLOYMENT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Ready to pilot, easy to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Plugs into existing workflow: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A90"/>
                </a:solidFill>
                <a:latin typeface="Inter"/>
              </a:rPr>
              <a:t>›  Nightly violation export → ParkSight refresh → dashboard + field plans.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A90"/>
                </a:solidFill>
                <a:latin typeface="Inter"/>
              </a:rPr>
              <a:t>›  Officers get today's route on a phone; commanders get ward allocation + PDF brief.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A90"/>
                </a:solidFill>
                <a:latin typeface="Inter"/>
              </a:rPr>
              <a:t>›  Live public demo on Streamlit Cloud; secrets-managed Mappls keys.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7373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F2937"/>
                </a:solidFill>
                <a:latin typeface="Inter"/>
              </a:rPr>
              <a:t>Scales with one config block: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A90"/>
                </a:solidFill>
                <a:latin typeface="Inter"/>
              </a:rPr>
              <a:t>›  City centre, bounding box, H3 resolution, severity weights are config-driven.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A90"/>
                </a:solidFill>
                <a:latin typeface="Inter"/>
              </a:rPr>
              <a:t>›  Same pipeline runs on any city's violation feed.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A90"/>
                </a:solidFill>
                <a:latin typeface="Inter"/>
              </a:rPr>
              <a:t>›  Reproducible build (~100 s) + unit tests + artifact caching.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TECH STACK &amp;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Built on the provided real-world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737360"/>
            <a:ext cx="10972" cy="402336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>
                <a:solidFill>
                  <a:srgbClr val="1F2937"/>
                </a:solidFill>
                <a:latin typeface="Inter"/>
              </a:rPr>
              <a:t>Partners: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B7A90"/>
                </a:solidFill>
                <a:latin typeface="Inter"/>
              </a:rPr>
              <a:t>›  MapmyIndia (Mappls) — map tiles + India-grade road routing (OAuth, cached)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B7A90"/>
                </a:solidFill>
                <a:latin typeface="Inter"/>
              </a:rPr>
              <a:t>›  Bengaluru Traffic Police (ASTraM) — violation &amp; congestion datasets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6B7A90"/>
                </a:solidFill>
                <a:latin typeface="Inter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1F2937"/>
                </a:solidFill>
                <a:latin typeface="Inter"/>
              </a:rPr>
              <a:t>Models &amp; methods: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B7A90"/>
                </a:solidFill>
                <a:latin typeface="Inter"/>
              </a:rPr>
              <a:t>›  HistGradientBoosting + LightGBM ensemble (forecast)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B7A90"/>
                </a:solidFill>
                <a:latin typeface="Inter"/>
              </a:rPr>
              <a:t>›  Quantile GBM (uncertainty) · DBSCAN (clustering)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B7A90"/>
                </a:solidFill>
                <a:latin typeface="Inter"/>
              </a:rPr>
              <a:t>›  Submodular max-coverage (optimisation) · NNLS (calibration)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>
                <a:solidFill>
                  <a:srgbClr val="1F2937"/>
                </a:solidFill>
                <a:latin typeface="Inter"/>
              </a:rPr>
              <a:t>Engineering: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B7A90"/>
                </a:solidFill>
                <a:latin typeface="Inter"/>
              </a:rPr>
              <a:t>›  Python · pandas · NumPy · scikit-learn · LightGBM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B7A90"/>
                </a:solidFill>
                <a:latin typeface="Inter"/>
              </a:rPr>
              <a:t>›  Uber H3 · Plotly · pydeck · Streamlit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B7A90"/>
                </a:solidFill>
                <a:latin typeface="Inter"/>
              </a:rPr>
              <a:t>›  OSRM (routing fallback) · OpenStreetMap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6B7A90"/>
                </a:solidFill>
                <a:latin typeface="Inter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1F2937"/>
                </a:solidFill>
                <a:latin typeface="Inter"/>
              </a:rPr>
              <a:t>Rigour: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B7A90"/>
                </a:solidFill>
                <a:latin typeface="Inter"/>
              </a:rPr>
              <a:t>›  5-fold out-of-fold encoding · temporal hold-out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B7A90"/>
                </a:solidFill>
                <a:latin typeface="Inter"/>
              </a:rPr>
              <a:t>›  unit tests (pytest) · config-driven · reproducible build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LIMITATIONS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F2937"/>
                </a:solidFill>
                <a:latin typeface="Inter"/>
              </a:rPr>
              <a:t>What we're honest about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046988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ParkSight  ·  Gridlock 2.0  ·  Theme 1 — Parking-Induced Congestion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6B7A90"/>
                </a:solidFill>
                <a:latin typeface="Inter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3736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450" b="0">
                <a:solidFill>
                  <a:srgbClr val="6B7A90"/>
                </a:solidFill>
                <a:latin typeface="Inter"/>
              </a:rPr>
              <a:t>›  We PROXY congestion (no live flow data provided); validated against an independent congestion log.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6B7A90"/>
                </a:solidFill>
                <a:latin typeface="Inter"/>
              </a:rPr>
              <a:t>›  Enforcement data = where patrols looked (selection bias) — surfaced and corrected.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6B7A90"/>
                </a:solidFill>
                <a:latin typeface="Inter"/>
              </a:rPr>
              <a:t>›  Temporal pattern = detection times (officer shifts) — framed as detection-risk, not raw demand.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6B7A90"/>
                </a:solidFill>
                <a:latin typeface="Inter"/>
              </a:rPr>
              <a:t>›  Validation is associational, not causal (controlled check shown).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6B7A90"/>
                </a:solidFill>
                <a:latin typeface="Inter"/>
              </a:rPr>
              <a:t>›  ₹ cost &amp; enforcement effectiveness are illustrative ranges; forecast ≈ persistence + a small edge.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6B7A90"/>
                </a:solidFill>
                <a:latin typeface="Inter"/>
              </a:rPr>
              <a:t>›  Privacy: all IDs anonymised. One city, ~5 months; pipeline is config-driven to generalise.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Inter"/>
              </a:rPr>
              <a:t>Owning these is the point: a validated, deployable decision-support tool — not over-claimed.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ParkSight turns parking data into traffic relief.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C7D4EA"/>
                </a:solidFill>
                <a:latin typeface="Inter"/>
              </a:rPr>
              <a:t>Detect · quantify · forecast · optimise · validate — complete, validated, deployable.  Enforce 7% of the city, fix 80% of the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8AA0C0"/>
                </a:solidFill>
                <a:latin typeface="Inter"/>
              </a:rPr>
              <a:t>Live demo + repository in the submission  ·  Powered by MapmyIndia &amp; Bengaluru Traffic Police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